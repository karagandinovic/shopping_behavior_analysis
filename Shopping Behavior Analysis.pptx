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2" r:id="rId6"/>
    <p:sldId id="263" r:id="rId7"/>
    <p:sldId id="261" r:id="rId8"/>
    <p:sldId id="266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CE809-AD45-2D89-1F03-FEA1E3B9F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6BE836-9839-9887-6C53-FEF746162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CEEA7D-0322-FDAC-9986-14AA6CF7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0E644B-4EE4-5389-B5E0-8FE96F55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72B2DE-B75D-6184-C083-48FFD1242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78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2F3D4-0694-3D1C-4482-7A42F3A1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1BE010-9CB7-33E4-336B-B43E4CA83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EA820F-63C9-32B8-093B-3A9D4DAB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FE5379-CCA7-668A-B276-85FD1BE4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A2EE6E-7D0A-4022-3CF6-DDA2E169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13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480A0-2298-F73F-C0DC-068271A7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A8CD2E-012B-2E18-7C89-ED1D8FC08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4801C7-89A9-D8FE-FC76-DB526D59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EC9B91-FA81-0B0F-3F8B-B550A7CD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A0B7D7-6F8C-CF67-AECF-7766B033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831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D04CA-8847-736A-57CA-9639DDCA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B8B8D5-A342-FC9B-907D-AE9C3072C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5832B5-51A2-49FD-A052-272F1BA87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0F7814-006D-493E-8D3F-E5484218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FE3D24-49BC-FE90-EA6D-D5BE0F5C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238BA8-B0A8-5AEC-4250-F810F7CA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76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2C70F-725E-54B3-68E5-D2D2F091C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6866B4-D6DB-5B98-C754-ADC455247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964DF2-0CF4-3C3C-2A27-7C21DDBDE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6EB54BF-893F-39C0-18BD-9879EBD97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EE5962-53BD-4C52-CB33-DD574F5D3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7673CF-A179-087B-0059-E31D73E3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163326-077A-9D5B-A6E3-A3E851AC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A0AA785-49A5-B2F0-B98C-399F4E952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75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6E9F4-0A2C-DC85-3401-9EC36714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3708F62-85D6-F0CB-57F1-7EDB41C7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D5C71B-38C4-2D89-7424-193D2C72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7049DA-ABC4-4E64-6BC3-32C9E919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87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394CC9-3806-04AB-19E8-3FB2888B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5EBC6E-B988-BD29-9B53-8EA6EFDBA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895DF0-8714-7E5A-F7CB-00EE7300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76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743A3-FB4F-E49D-BD43-72D99593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5055D0-FF32-79D9-2E04-5B1C80DF6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6F48C9-35E2-ABE2-2BAC-FD430F8AA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1C672F-7F2A-F859-F83B-025E4E3D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515E69-67A5-2216-4537-8493FEAC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A91369-38B7-6A97-9DB8-42B2FB0A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26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89E2D-2DBF-D71E-CC12-342849D34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30A96F-2AF5-32D7-5F2E-59A809C92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8237BB-0D3E-7939-0B39-509D74CCD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1B29B6-0E09-70D4-6160-79263EADE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B1226F-843B-8F78-D913-AFACF770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7550FE-C5E2-5915-3A1D-C3AAEE6E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3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0ECD1-4B17-BCDA-9883-94988A0E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D6D7C5-7EBE-70AB-52AB-4FB3011B1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D80934-AF13-C8EE-CA69-50E20A01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1D4A65-908E-D7A7-9E53-41C8C4C7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16A9D6-0B4E-FA40-B87D-183874E2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77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D41638-9889-D757-37C9-366EE36BB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40D02B-E2A5-CE04-B9A3-03019EBAE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492321-D2EB-F376-AD21-33B2F98D2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1CBE11-FE05-EF60-2535-2B688908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69D3F6-E173-BD37-9C1D-CD0AB82B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5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F9EB9-9F2E-0585-AD00-7BD0D3C8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4B9BB2-C1FF-D114-FC48-38FCF1BFD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567A8E-5EB1-A3E2-3B97-29DA9D221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67DE2-F21B-450C-B160-602F745C3344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DC59FC-47D9-3826-C35B-09B371D19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0B50B9-A49A-F31F-6563-B952161A7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73532-140B-49D4-ABB7-A685A5B1B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75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B09412F5-883D-2238-AA6D-899F3726A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72120-5E4A-5B7E-58A7-1782CF4265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Customer Value Analysis &amp; Sales Drivers</a:t>
            </a:r>
            <a:endParaRPr lang="ru-RU" dirty="0"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EC09D0-D80B-C4C7-F7B7-E09DA6A769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by </a:t>
            </a:r>
            <a:r>
              <a:rPr lang="en-US" b="1" dirty="0"/>
              <a:t>Daulet </a:t>
            </a:r>
            <a:r>
              <a:rPr lang="en-US" b="1" dirty="0" err="1"/>
              <a:t>Nassakayev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6607A-69C1-7753-A243-A1034F1B0A9B}"/>
              </a:ext>
            </a:extLst>
          </p:cNvPr>
          <p:cNvSpPr txBox="1"/>
          <p:nvPr/>
        </p:nvSpPr>
        <p:spPr>
          <a:xfrm>
            <a:off x="3220277" y="6194323"/>
            <a:ext cx="5751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Tools Used: SQL, Python (Pandas, SciPy, </a:t>
            </a:r>
            <a:r>
              <a:rPr lang="en-US" dirty="0" err="1"/>
              <a:t>Pingouin</a:t>
            </a:r>
            <a:r>
              <a:rPr lang="en-US" dirty="0"/>
              <a:t>), Power BI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1409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A86E4969-BCA4-8C36-4F9D-7F73823FE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D0D15-3041-185C-99F5-F972DE46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Business Objective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7BCB42-2EE4-17CC-A0F4-1CFE0C05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This project analyzes customer behavior and revenue structure to identify growth opportunities.</a:t>
            </a:r>
          </a:p>
          <a:p>
            <a:endParaRPr lang="en-US" dirty="0"/>
          </a:p>
          <a:p>
            <a:r>
              <a:rPr lang="en-US" dirty="0"/>
              <a:t>What drives revenue differences across segments?</a:t>
            </a:r>
          </a:p>
          <a:p>
            <a:r>
              <a:rPr lang="en-US" dirty="0"/>
              <a:t>Do discounts increase transaction value?</a:t>
            </a:r>
          </a:p>
          <a:p>
            <a:r>
              <a:rPr lang="en-US" dirty="0"/>
              <a:t>Is revenue driven by spending behavior or customer volume?</a:t>
            </a:r>
          </a:p>
          <a:p>
            <a:r>
              <a:rPr lang="en-US" dirty="0"/>
              <a:t>Where are potential growth levers?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629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7D566CAC-B6AC-0CB4-D52E-9CB0B8B7F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D83A39-7E7D-6F8C-6ADF-8457826DD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Dataset Snapshot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6FD1F-4810-C45E-9B04-ABD9635AF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k-KZ" dirty="0"/>
          </a:p>
          <a:p>
            <a:r>
              <a:rPr lang="en-US" dirty="0"/>
              <a:t>Synthetic retail dataset</a:t>
            </a:r>
          </a:p>
          <a:p>
            <a:r>
              <a:rPr lang="en-US" dirty="0"/>
              <a:t>Simulates real-world customer behavior</a:t>
            </a:r>
          </a:p>
          <a:p>
            <a:r>
              <a:rPr lang="en-US" dirty="0"/>
              <a:t>3900 customers</a:t>
            </a:r>
          </a:p>
          <a:p>
            <a:r>
              <a:rPr lang="en-US" dirty="0"/>
              <a:t>Customer-level data</a:t>
            </a:r>
          </a:p>
          <a:p>
            <a:r>
              <a:rPr lang="en-US" dirty="0"/>
              <a:t>No time dimension</a:t>
            </a:r>
          </a:p>
          <a:p>
            <a:endParaRPr lang="ru-RU" dirty="0"/>
          </a:p>
        </p:txBody>
      </p:sp>
      <p:pic>
        <p:nvPicPr>
          <p:cNvPr id="1028" name="Picture 4" descr="Таблица базы данных – Бесплатные иконки: ui">
            <a:extLst>
              <a:ext uri="{FF2B5EF4-FFF2-40B4-BE49-F238E27FC236}">
                <a16:creationId xmlns:a16="http://schemas.microsoft.com/office/drawing/2014/main" id="{21826D80-1636-B862-ACC2-C7014BAAB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491" y="1772264"/>
            <a:ext cx="3313471" cy="331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393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666D1-68C2-12B9-49F7-5EF64435F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079231" cy="1600200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+mn-lt"/>
              </a:rPr>
              <a:t>Revenue Structure Overview</a:t>
            </a:r>
            <a:endParaRPr lang="ru-RU" sz="4400" b="1" dirty="0">
              <a:latin typeface="+mn-lt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7BA4B5-37A9-D5D2-B034-C1F3BDE27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9212"/>
            <a:ext cx="5079231" cy="3811588"/>
          </a:xfrm>
        </p:spPr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</a:rPr>
              <a:t>Revenue differences are driven by customer volume</a:t>
            </a:r>
            <a:r>
              <a:rPr lang="en-US" sz="2800" dirty="0"/>
              <a:t>, not spending behavior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Average check does not differ significantly across groups</a:t>
            </a:r>
          </a:p>
          <a:p>
            <a:endParaRPr lang="en-US" sz="2400" dirty="0">
              <a:solidFill>
                <a:schemeClr val="accent1"/>
              </a:solidFill>
            </a:endParaRPr>
          </a:p>
          <a:p>
            <a:endParaRPr lang="en-US" sz="2000" dirty="0"/>
          </a:p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6E6F2A8-27AA-C768-75D3-29D381306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80360"/>
            <a:ext cx="3126657" cy="251113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2BF87DB-9F21-1CB2-340A-F2BCCDC2A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657" y="2280360"/>
            <a:ext cx="2593570" cy="27014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CEF3D9-572F-85E0-2D1E-C18415686A85}"/>
              </a:ext>
            </a:extLst>
          </p:cNvPr>
          <p:cNvSpPr txBox="1"/>
          <p:nvPr/>
        </p:nvSpPr>
        <p:spPr>
          <a:xfrm>
            <a:off x="7529586" y="1071607"/>
            <a:ext cx="3386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Revenue share mirrors customer distribution across segments.</a:t>
            </a:r>
          </a:p>
          <a:p>
            <a:endParaRPr lang="ru-RU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2F3185-EE88-FE42-DD12-08E6FE3A17D5}"/>
              </a:ext>
            </a:extLst>
          </p:cNvPr>
          <p:cNvSpPr txBox="1"/>
          <p:nvPr/>
        </p:nvSpPr>
        <p:spPr>
          <a:xfrm>
            <a:off x="6518790" y="5532901"/>
            <a:ext cx="5171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The same pattern is observed across other segments</a:t>
            </a:r>
          </a:p>
        </p:txBody>
      </p:sp>
    </p:spTree>
    <p:extLst>
      <p:ext uri="{BB962C8B-B14F-4D97-AF65-F5344CB8AC3E}">
        <p14:creationId xmlns:p14="http://schemas.microsoft.com/office/powerpoint/2010/main" val="3549023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5D634-A29E-4DD0-EAE8-3828E09F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Discount Effectiveness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C78AC9-310A-5E56-0CBE-93E940D5E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2564"/>
            <a:ext cx="5016355" cy="163287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43%</a:t>
            </a:r>
            <a:r>
              <a:rPr lang="en-US" sz="3200" dirty="0"/>
              <a:t> of all orders are discounted</a:t>
            </a:r>
          </a:p>
          <a:p>
            <a:r>
              <a:rPr lang="en-US" sz="3200" dirty="0"/>
              <a:t>No AOV difference</a:t>
            </a:r>
          </a:p>
          <a:p>
            <a:r>
              <a:rPr lang="en-US" sz="3200" dirty="0"/>
              <a:t>Unclear profitability</a:t>
            </a:r>
          </a:p>
          <a:p>
            <a:endParaRPr lang="en-US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9AEF62-8971-9DD7-7C64-5C8314494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446" y="961680"/>
            <a:ext cx="5239481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8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479C89-07AB-D41B-1411-5E32B594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Category &amp; Assortment Insight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55EC2C-2002-5F7E-379A-53988A3F5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76% </a:t>
            </a:r>
            <a:r>
              <a:rPr lang="en-US" dirty="0"/>
              <a:t>of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revenue comes from </a:t>
            </a:r>
            <a:r>
              <a:rPr lang="en-US" b="1" dirty="0">
                <a:solidFill>
                  <a:srgbClr val="C00000"/>
                </a:solidFill>
              </a:rPr>
              <a:t>two</a:t>
            </a:r>
            <a:r>
              <a:rPr lang="en-US" dirty="0"/>
              <a:t> categories</a:t>
            </a:r>
          </a:p>
          <a:p>
            <a:r>
              <a:rPr lang="en-US" dirty="0"/>
              <a:t>Revenue correlates with SKU count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CAC3D7-FB3B-3008-1591-9F3FCA9E0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43" y="3039300"/>
            <a:ext cx="6192114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58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Блок-схема: альтернативный процесс 10">
            <a:extLst>
              <a:ext uri="{FF2B5EF4-FFF2-40B4-BE49-F238E27FC236}">
                <a16:creationId xmlns:a16="http://schemas.microsoft.com/office/drawing/2014/main" id="{52FF5A3C-CF50-16AC-CA86-7CE3A1D19415}"/>
              </a:ext>
            </a:extLst>
          </p:cNvPr>
          <p:cNvSpPr/>
          <p:nvPr/>
        </p:nvSpPr>
        <p:spPr>
          <a:xfrm>
            <a:off x="5621591" y="5286290"/>
            <a:ext cx="5673214" cy="978103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лок-схема: альтернативный процесс 9">
            <a:extLst>
              <a:ext uri="{FF2B5EF4-FFF2-40B4-BE49-F238E27FC236}">
                <a16:creationId xmlns:a16="http://schemas.microsoft.com/office/drawing/2014/main" id="{D190B126-CB90-C3EC-3F6F-5BED0B66D122}"/>
              </a:ext>
            </a:extLst>
          </p:cNvPr>
          <p:cNvSpPr/>
          <p:nvPr/>
        </p:nvSpPr>
        <p:spPr>
          <a:xfrm>
            <a:off x="5614218" y="3939368"/>
            <a:ext cx="5680587" cy="892552"/>
          </a:xfrm>
          <a:prstGeom prst="flowChartAlternate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4B261-DC6E-A839-B79D-730AD8F7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560"/>
            <a:ext cx="7234084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Loyal Customers and Retention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6963E-542A-3BA8-A7DA-9C04764F3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6920"/>
            <a:ext cx="5700252" cy="16033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80% </a:t>
            </a:r>
            <a:r>
              <a:rPr lang="en-US" dirty="0"/>
              <a:t>of all customers are loyal </a:t>
            </a:r>
          </a:p>
          <a:p>
            <a:r>
              <a:rPr lang="en-US" dirty="0"/>
              <a:t>New, returning and loyal customers have the </a:t>
            </a:r>
            <a:r>
              <a:rPr lang="en-US" b="1" dirty="0">
                <a:solidFill>
                  <a:srgbClr val="C00000"/>
                </a:solidFill>
              </a:rPr>
              <a:t>same AOV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0F1A3934-6FA9-0E6D-A47A-186F6C67F27F}"/>
              </a:ext>
            </a:extLst>
          </p:cNvPr>
          <p:cNvSpPr/>
          <p:nvPr/>
        </p:nvSpPr>
        <p:spPr>
          <a:xfrm>
            <a:off x="867696" y="4289669"/>
            <a:ext cx="3352799" cy="1603375"/>
          </a:xfrm>
          <a:prstGeom prst="flowChartAlternate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F0500-B380-0B8A-9972-76899C781616}"/>
              </a:ext>
            </a:extLst>
          </p:cNvPr>
          <p:cNvSpPr txBox="1"/>
          <p:nvPr/>
        </p:nvSpPr>
        <p:spPr>
          <a:xfrm>
            <a:off x="867696" y="4306527"/>
            <a:ext cx="3293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Strong retention or weak acquisition?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42350-7F3A-14A5-A42A-4FDA2BD7477B}"/>
              </a:ext>
            </a:extLst>
          </p:cNvPr>
          <p:cNvSpPr txBox="1"/>
          <p:nvPr/>
        </p:nvSpPr>
        <p:spPr>
          <a:xfrm>
            <a:off x="5963265" y="3939368"/>
            <a:ext cx="497512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800"/>
              </a:spcAft>
              <a:buNone/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Analyze customer acquisition trends over time</a:t>
            </a:r>
            <a:endParaRPr lang="ru-RU" sz="2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48D14-29E6-093E-7F0A-78CCA36072CF}"/>
              </a:ext>
            </a:extLst>
          </p:cNvPr>
          <p:cNvSpPr txBox="1"/>
          <p:nvPr/>
        </p:nvSpPr>
        <p:spPr>
          <a:xfrm>
            <a:off x="5402826" y="535984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800"/>
              </a:spcAft>
              <a:buNone/>
            </a:pP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easure retention rates across customer acquisition cohorts.</a:t>
            </a:r>
            <a:endParaRPr lang="ru-RU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35087C94-FCC8-C97D-D9D8-654F87AF48FC}"/>
              </a:ext>
            </a:extLst>
          </p:cNvPr>
          <p:cNvSpPr/>
          <p:nvPr/>
        </p:nvSpPr>
        <p:spPr>
          <a:xfrm rot="20581228">
            <a:off x="4428152" y="4427062"/>
            <a:ext cx="978408" cy="2509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1E1C54F6-1889-944E-3AA5-C579FE4388A7}"/>
              </a:ext>
            </a:extLst>
          </p:cNvPr>
          <p:cNvSpPr/>
          <p:nvPr/>
        </p:nvSpPr>
        <p:spPr>
          <a:xfrm rot="1004000">
            <a:off x="4413405" y="5506555"/>
            <a:ext cx="978408" cy="2509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D6738B-C9A5-1196-046B-C24DD00DC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327" y="353190"/>
            <a:ext cx="3342517" cy="316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47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8CC98-D607-2E9F-C116-10D8F0BB8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96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Location-based Analysis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580276-3933-FF13-C80F-BCA416AD8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159"/>
            <a:ext cx="6870290" cy="2238567"/>
          </a:xfrm>
        </p:spPr>
        <p:txBody>
          <a:bodyPr>
            <a:normAutofit/>
          </a:bodyPr>
          <a:lstStyle/>
          <a:p>
            <a:r>
              <a:rPr lang="en-US" dirty="0"/>
              <a:t>No noticeable difference in customer count.</a:t>
            </a:r>
          </a:p>
          <a:p>
            <a:r>
              <a:rPr lang="en-US" dirty="0"/>
              <a:t>Difference in population is very significant.</a:t>
            </a:r>
          </a:p>
          <a:p>
            <a:r>
              <a:rPr lang="en-US" dirty="0"/>
              <a:t>This suggests significant variation in customer engagement rate between states.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2AF286-6073-309F-A457-48D4968F7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628" y="3795402"/>
            <a:ext cx="5639287" cy="278907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B216797-2FC6-584D-4098-390B116BE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797" y="68826"/>
            <a:ext cx="4106708" cy="67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98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48FC5-C8D2-7C85-E548-4EC4118E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8751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Customer Satisfaction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FA2B76-59AF-7D6F-3D3D-4ADE762D7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68" y="2602685"/>
            <a:ext cx="5582265" cy="1952516"/>
          </a:xfrm>
        </p:spPr>
        <p:txBody>
          <a:bodyPr/>
          <a:lstStyle/>
          <a:p>
            <a:r>
              <a:rPr lang="en-US" dirty="0"/>
              <a:t>Review ratings are consistently </a:t>
            </a:r>
            <a:r>
              <a:rPr lang="en-US" b="1" dirty="0">
                <a:solidFill>
                  <a:srgbClr val="C00000"/>
                </a:solidFill>
              </a:rPr>
              <a:t>below 4.0</a:t>
            </a:r>
            <a:endParaRPr lang="en-US" dirty="0"/>
          </a:p>
          <a:p>
            <a:r>
              <a:rPr lang="en-US" dirty="0"/>
              <a:t>No spending correlation</a:t>
            </a:r>
          </a:p>
          <a:p>
            <a:r>
              <a:rPr lang="en-US" dirty="0"/>
              <a:t>Potential brand risk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35C25FA-B632-6AEE-F73A-942B1284B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15" y="564323"/>
            <a:ext cx="4563503" cy="271473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959A7B6-CBA1-8C76-EFEB-D50094884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06" y="3578943"/>
            <a:ext cx="5837112" cy="307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29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76365-9E16-836A-95A2-30A9D60F9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Strategic Recommendations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E397A5-659C-D825-772F-EF3BB5F06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7714"/>
            <a:ext cx="10515600" cy="3395304"/>
          </a:xfrm>
        </p:spPr>
        <p:txBody>
          <a:bodyPr/>
          <a:lstStyle/>
          <a:p>
            <a:pPr lvl="0"/>
            <a:r>
              <a:rPr lang="en-US" dirty="0"/>
              <a:t>Test targeted acquisition campaigns for underrepresented female segment.</a:t>
            </a:r>
            <a:endParaRPr lang="ru-RU" dirty="0"/>
          </a:p>
          <a:p>
            <a:pPr lvl="0"/>
            <a:r>
              <a:rPr lang="en-US" dirty="0"/>
              <a:t>Re-evaluate discount strategy (collect discount size and cost data).</a:t>
            </a:r>
            <a:endParaRPr lang="ru-RU" dirty="0"/>
          </a:p>
          <a:p>
            <a:pPr lvl="0"/>
            <a:r>
              <a:rPr lang="en-US" dirty="0"/>
              <a:t>Investigate low review ratings to improve customer satisfaction.</a:t>
            </a:r>
            <a:endParaRPr lang="ru-RU" dirty="0"/>
          </a:p>
          <a:p>
            <a:pPr lvl="0"/>
            <a:r>
              <a:rPr lang="en-US" dirty="0"/>
              <a:t>Test assortment expansion in underperforming categories (Footwear, Outerwear).</a:t>
            </a:r>
            <a:endParaRPr lang="ru-RU" dirty="0"/>
          </a:p>
          <a:p>
            <a:pPr lvl="0"/>
            <a:r>
              <a:rPr lang="en-US" dirty="0"/>
              <a:t>Implement location-based marketing in underpenetrated states.</a:t>
            </a:r>
            <a:endParaRPr lang="ru-RU" dirty="0"/>
          </a:p>
          <a:p>
            <a:endParaRPr lang="ru-RU" dirty="0"/>
          </a:p>
        </p:txBody>
      </p:sp>
      <p:pic>
        <p:nvPicPr>
          <p:cNvPr id="4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053E4D4E-4AB2-2DBF-2EAB-6758B45FF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995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284</Words>
  <Application>Microsoft Office PowerPoint</Application>
  <PresentationFormat>Широкоэкранный</PresentationFormat>
  <Paragraphs>51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Customer Value Analysis &amp; Sales Drivers</vt:lpstr>
      <vt:lpstr>Business Objective</vt:lpstr>
      <vt:lpstr>Dataset Snapshot</vt:lpstr>
      <vt:lpstr>Revenue Structure Overview</vt:lpstr>
      <vt:lpstr>Discount Effectiveness</vt:lpstr>
      <vt:lpstr>Category &amp; Assortment Insight</vt:lpstr>
      <vt:lpstr>Loyal Customers and Retention</vt:lpstr>
      <vt:lpstr>Location-based Analysis</vt:lpstr>
      <vt:lpstr>Customer Satisfaction</vt:lpstr>
      <vt:lpstr>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Marat</dc:creator>
  <cp:lastModifiedBy>Marat</cp:lastModifiedBy>
  <cp:revision>17</cp:revision>
  <dcterms:created xsi:type="dcterms:W3CDTF">2026-03-03T13:01:47Z</dcterms:created>
  <dcterms:modified xsi:type="dcterms:W3CDTF">2026-03-04T07:49:32Z</dcterms:modified>
</cp:coreProperties>
</file>